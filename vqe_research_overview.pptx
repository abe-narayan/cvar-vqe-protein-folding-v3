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same (LEDGER)</a:t>
            </a:r>
          </a:p>
          <a:p>
            <a:r>
              <a:t>CORPUS_PEPTIDES = 787 &lt;- s26/results/p_probe_esm.json (ledger L11: 787 peptides + 6,003 fragments = 6,790 unique training sequences) (LEDGER)</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same (LEDGER)</a:t>
            </a:r>
          </a:p>
          <a:p>
            <a:r>
              <a:t>CORPUS_PEPTIDES = 787 &lt;- s26/results/p_probe_esm.json (ledger L11: 787 peptides + 6,003 fragments = 6,790 unique training sequences) (LEDGER)</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(L53): how far the relaxation moves the chain predicts its error, Spearman +0.433 partial on n and Rg, fold CI [+0.2472, +0.5876]; quartile means [+2.2861, +2.9364, +3.7583, +3.9226] A.</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STRAIN_QUARTILE_MEANS = [2.286050405639703, 2.936410873698196, 3.758273630199497, 3.92256307751297] &lt;- s26/results/ph_strain.json :: rows[*]/{moved, rmsd_arm}: mean rmsd_arm by quartile of moved (32/32/32/30) [built_chain] (DERIVED)</a:t>
            </a:r>
          </a:p>
          <a:p>
            <a:r>
              <a:t>STRAIN_RHO_MOVED = 0.432567 &lt;- s26/results/ph_strain.json :: summary/partial_n_rg/moved/rho</a:t>
            </a:r>
          </a:p>
          <a:p>
            <a:r>
              <a:t>STRAIN_RHO_MOVED_CI = [0.24715403137333128, 0.587580518912838] &lt;- s26/results/ph_strain.json :: summary/partial_n_rg/moved/ci95_fold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is a placeholder until lane Q's proposal file lands; every fact on it is measured. Direction A was: replace the fixed ansatz with ADAPT-VQE. Two things are already known. First, the algebra. The fixed ansatz generates the full so(128) at seven qubits from depth two, so ADAPT cannot add expressivity the fixed circuit lacks; the Tang minimal pool generates only 2,080 dimensions of it. Second, the target. At alpha equal to one, the state the optimiser is asked to reach is a product state: the divergence between the Gibbs state and the product of its marginals is 5.4e-05 nats on a real target. A seven-parameter layer of single-qubit rotations reaches it to 5.4e-05 nats; the deployed 21-parameter circuit stops at 0.903. So an ADAPT-grown circuit on this Hamiltonian selects 1 to 3 distinct operators and repeats one single-qubit rotation: it is a product circuit. Its gradient variance does not decay with width, and it is 1.6 to 370 times the fixed ansatz's. That is not trainability; there is nothing to train. The one non-trivial grown family, alpha 0.25 with the two-local pool, decays at -0.302 per qubit against the fixed -0.243; both are far from the minus one of a two-design, and no interval on their difference is on disk. The endpoint experiment is running and I expect a null, because the set-equality theorem bounds every readout by the classical prefix.</a:t>
            </a:r>
          </a:p>
          <a:p/>
          <a:p>
            <a:r>
              <a:t>ALSO (not spoken):</a:t>
            </a:r>
          </a:p>
          <a:p>
            <a:r>
              <a:t>PENDING: the wording and verdict come from `s26/PROPOSAL_A.md` (lane Q) when it exists; A1 (fixed vs ADAPT-grown, built chain primary) was at 33 of 126 targets at 19:20 (`s26/STATUS.md`). A2 (L27, Adversary L45 STANDS): dim(DLA) at n = 7 is 7 at depth 1, 8,128 at depth 2 and 8,128 at depth 3 against dim so(128) = 8,128; pool V 2,080, pool L2 8,128; ADAPT-selected sets at alpha = 1 stay abelian (dim 7), at alpha = 0.25 with pool L2 reach 1,025; symbolic closure equals the dense SVD rank on 12/12 cells. A4 (L35, Adversary L47 STANDS WITH CAVEAT): matched-P slopes, log2 Var per qubit, grown V / L2: -0.079 / +0.006 (alpha 1, T 0), +0.035 / -0.008 (alpha 1, T 0.3), -0.246 / -0.302 (alpha 0.25, T 0.3) against the fixed -0.649 / -0.311 / -0.243; grown/fixed variance ratio 1.63 to 370 over 39 matched rows; the alpha = 0.25 L2 family grows 4 to 21 distinct 2-local strings; S25's n = 7 rows reproduce at relative deviation 0.0000. Per L47 the product-circuit reading rests on `s26/results/q_dla.json` (adapt sets), not on `q_var.json`. The product-state target: KL(Gibbs || product of marginals) 7.2e-17 on the ideal ladder and 5.4e-05 on 1A13 (`s26/results/probe/1A13.json`). What A gives Proposal A: no width-scaling argument (L35); on this diagonal, nearly target-independent Hamiltonian the honest form of direction A is ADAPT as a diagnostic, or a Hamiltonian that is not diagonal, which this project does not have.</a:t>
            </a:r>
          </a:p>
          <a:p/>
          <a:p>
            <a:r>
              <a:t>SOURCES (not spoken; token = value &lt;- artefact path [basis]):</a:t>
            </a:r>
          </a:p>
          <a:p>
            <a:r>
              <a:t>A4_A1_DISTINCT_MAX = 3 &lt;- s26/results/q_var.json :: results/grown/[alpha=1 cells]/rows[P_matched]/n_distinct_ops (max) (DERIVED)</a:t>
            </a:r>
          </a:p>
          <a:p>
            <a:r>
              <a:t>A4_A1_DISTINCT_MIN = 1 &lt;- s26/results/q_var.json :: results/grown/[alpha=1 cells]/rows[P_matched]/n_distinct_ops (min) (DERIVED)</a:t>
            </a:r>
          </a:p>
          <a:p>
            <a:r>
              <a:t>A4_FIXED_A025_T03 = -0.242884 &lt;- s26/results/q_var.json :: results/fixed/deployed_a025_T03/log2_slope_per_qubit</a:t>
            </a:r>
          </a:p>
          <a:p>
            <a:r>
              <a:t>A4_L2_A025_DISTINCT_MAX = 21 &lt;- s26/results/q_var.json :: results/grown/'L2:adam_best:deployed_a025_T03'/rows[P_matched]/n_distinct_ops (max) (DERIVED)</a:t>
            </a:r>
          </a:p>
          <a:p>
            <a:r>
              <a:t>A4_L2_A025_DISTINCT_MIN = 4 &lt;- s26/results/q_var.json :: results/grown/'L2:adam_best:deployed_a025_T03'/rows[P_matched]/n_distinct_ops (min) (DERIVED)</a:t>
            </a:r>
          </a:p>
          <a:p>
            <a:r>
              <a:t>A4_L2_A025_T03 = -0.302361 &lt;- s26/results/q_var.json :: results/grown/'L2:adam_best:deployed_a025_T03'/rows[P_matched] (DERIVED)</a:t>
            </a:r>
          </a:p>
          <a:p>
            <a:r>
              <a:t>A4_L2_A1_T03 = -0.00752101 &lt;- s26/results/q_var.json :: results/grown/'L2:adam_best:deployed_a1_T03'/rows[P_matched] (DERIVED)</a:t>
            </a:r>
          </a:p>
          <a:p>
            <a:r>
              <a:t>A4_L2_LIN = 0.00620042 &lt;- s26/results/q_var.json :: results/grown/'L2:adam_best:linear_alpha1_T0'/rows[P_matched] (DERIVED)</a:t>
            </a:r>
          </a:p>
          <a:p>
            <a:r>
              <a:t>A4_N_MATCHED = 39 &lt;- s26/results/q_var.json :: number of matched rows (DERIVED)</a:t>
            </a:r>
          </a:p>
          <a:p>
            <a:r>
              <a:t>A4_RATIO_MAX = 370.47 &lt;- s26/results/q_var.json :: the same, max (DERIVED)</a:t>
            </a:r>
          </a:p>
          <a:p>
            <a:r>
              <a:t>A4_RATIO_MIN = 1.62806 &lt;- s26/results/q_var.json :: grown var_g0 / fixed var_g0 at matched (cell, n), min over the matched rows (DERIVED)</a:t>
            </a:r>
          </a:p>
          <a:p>
            <a:r>
              <a:t>A4_REPRO_WORST_REL = 0 &lt;- s26/results/q_var.json :: results/reproduction/worst_rel</a:t>
            </a:r>
          </a:p>
          <a:p>
            <a:r>
              <a:t>A4_V_A025_T03 = -0.245975 &lt;- s26/results/q_var.json :: results/grown/'V:adam_best:deployed_a025_T03'/rows[P_matched] (DERIVED)</a:t>
            </a:r>
          </a:p>
          <a:p>
            <a:r>
              <a:t>A4_V_A1_T03 = 0.0346107 &lt;- s26/results/q_var.json :: results/grown/'V:adam_best:deployed_a1_T03'/rows[P_matched] (DERIVED)</a:t>
            </a:r>
          </a:p>
          <a:p>
            <a:r>
              <a:t>A4_V_LIN = -0.0792065 &lt;- s26/results/q_var.json :: results/grown/'V:adam_best:linear_alpha1_T0'/rows[P_matched] (log2 slope) (DERIVED)</a:t>
            </a:r>
          </a:p>
          <a:p>
            <a:r>
              <a:t>ADAPT_A025_L2_DIM = 1025 &lt;- s26/results/q_dla.json :: results/adapt_sets/[alpha=0.25, pool L2]/ladder[-1]/dim (max) (DERIVED)</a:t>
            </a:r>
          </a:p>
          <a:p>
            <a:r>
              <a:t>ADAPT_A1_DIM = 7 &lt;- s26/results/q_dla.json :: results/adapt_sets/[alpha=1]/ladder[-1]/dim (max over pools and optimisers) (DERIVED)</a:t>
            </a:r>
          </a:p>
          <a:p>
            <a:r>
              <a:t>DLA_N7_L1 = 7 &lt;- s26/results/q_dla.json :: results/fixed/n7_L1/dim</a:t>
            </a:r>
          </a:p>
          <a:p>
            <a:r>
              <a:t>DLA_N7_L2 = 8128 &lt;- s26/results/q_dla.json :: results/fixed/n7_L2/dim</a:t>
            </a:r>
          </a:p>
          <a:p>
            <a:r>
              <a:t>DLA_N7_L3 = 8128 &lt;- s26/results/q_dla.json :: results/fixed/n7_L3/dim</a:t>
            </a:r>
          </a:p>
          <a:p>
            <a:r>
              <a:t>DLA_NUMERIC_AGREE = 12/12 &lt;- s26/results/q_dla.json :: results/numeric/*/agree (DERIVED)</a:t>
            </a:r>
          </a:p>
          <a:p>
            <a:r>
              <a:t>DLA_POOL_L2_N7 = 8128 &lt;- s26/results/q_dla.json :: results/pools/L2_n7/dim</a:t>
            </a:r>
          </a:p>
          <a:p>
            <a:r>
              <a:t>DLA_POOL_V_N7 = 2080 &lt;- s26/results/q_dla.json :: results/pools/V_n7/dim</a:t>
            </a:r>
          </a:p>
          <a:p>
            <a:r>
              <a:t>DLA_SO128 = 8128 &lt;- s26/results/q_dla.json :: results/fixed/n7_L3/dim_so</a:t>
            </a:r>
          </a:p>
          <a:p>
            <a:r>
              <a:t>PROD_KL_1A13 = 5.43789e-05 &lt;- s26/results/probe/1A13.json :: product_diagnostics/zrank/kl_gibbs_to_product</a:t>
            </a:r>
          </a:p>
          <a:p>
            <a:r>
              <a:t>PROD_KL_FIXED = 0.903049 &lt;- s26/results/probe/1A13.json :: arms/fixed_zrank_it50/kl_to_gibbs</a:t>
            </a:r>
          </a:p>
          <a:p>
            <a:r>
              <a:t>PROD_KL_IDEAL = 7.23403e-17 &lt;- s26/results/probe/1A13.json :: product_diagnostics/ideal_ladder/kl_gibbs_to_product</a:t>
            </a:r>
          </a:p>
          <a:p>
            <a:r>
              <a:t>PROD_KL_RY7 = 5.43621e-05 &lt;- s26/results/probe/1A13.json :: arms/adaptV_lbfgs_zrank_P7/kl_to_gibbs</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B was: use a large pretrained folding model as the distance prior. Step one asked whether such a model can run here. The answer is no, on three independent grounds. The checkpoints are not on disk and total 8.45 gigabytes. The code needs two packages that are absent, and one of them wants Python 3.9 or lower; this box runs 3.13 on a CPU. And the model needs at least 8.76 gigabytes resident against 4.4 gigabytes of headroom; even at half precision everywhere it is 7.4. Two feasible-scale checks are pending: the contact head alone as a prior input, and an 8-million-parameter language model against the 650-million one. A third asks whether the targets where the pipeline beats a sequence-only predictor form a set I can recognise without the native. The pipeline wins there by 0.56 angstroms, 89 targets to 37. If those checks are null, B is replaced by a paper. The paper says what a force field's Pauli spectrum does and does not predict. Chain geometry fixes which residues a distance can depend on; that is an exact theorem. That fixes the energy's Pauli spectrum, once the raw force field's clash spike is conditioned away. The spectrum times the circuit's own kernel predicts the measured gradient variance with no free parameter: the median ratio is 0.997 over 104 cells. This sprint added the algebra and the product-circuit result. The paper will not claim an advantage, and it will not call a small gradient a plateau.</a:t>
            </a:r>
          </a:p>
          <a:p/>
          <a:p>
            <a:r>
              <a:t>ALSO (not spoken):</a:t>
            </a:r>
          </a:p>
          <a:p>
            <a:r>
              <a:t>B1 verdict: "NO" (`s26/results/b1_feasibility.json`, L13). The one part of a large pretrained model this box already consumes is the ESM-2 650M embedding and its contact head, already 13 of the shipped prior's 183 input columns; its S7 selection value (a document-only -0.288 A whose per-target artefact is lost, L11) is not on this slide and is re-measured by C2's noesm and pca32 rungs. B3 arms, built chains, persisted: pipeline 3.2148, sequence-only torsion predictor 3.7705, constant helix 4.0648; torsion predictor minus pipeline +0.5557 (median +0.2314, SE 0.1318, MDE 0.3694, 37W/89L); the characterisability test (nested ridge against a permutation null) is pending in `s26/results/p_b3.json`. Replacement claims and their artefacts: C1 locality theorem (`s13/results/qarch_locality_geom.json`); C2 raw AMBER's delta-spike spectrum (`s13/results/walsh_xval.json`); C4 spectrum x kernel predicts the gradient variance, median measured/predicted 0.9969 over 104 cells (`s13/results/geo_pauli.json`); C5 the kernel is flat in Pauli weight at depth &gt;= 3 (`s13/results/geo_kernel.json`); C7 the width sweep, slopes -0.649 / -0.252 / -0.047 / -0.311 / -0.243 (`s25/results/q_plateau.json`); C8 the DLA is the full so(2^n) from depth 2 at n = 7, dim 8,128 (`s26/results/q_dla.json`, slide 6); C9 ADAPT-grown circuits at alpha = 1 are product circuits (`s26/results/q_dla.json` adapt sets, `s26/results/q_var.json` slopes; slide 8); C10 the optimiser trains and the readout cannot tell, 0.902 nats, 0.24 x MDE (`s25/results/q_gibbs.json`, `q_alpha.json`); C11 the set-equality theorem, 2,592 cells, 0 violations (`s25/results/q_verify.json`); C12 the deployed Gibbs target is a product state, KL 7.2e-17 ideal, 5.4e-05 on 1A13 (`s26/results/probe/1A13.json`). Venue statement: every number is noiseless exact simulation; a submission would add a noise model, width beyond n = 13, a 2-design control, seeds and error bars on every variance.</a:t>
            </a:r>
          </a:p>
          <a:p/>
          <a:p>
            <a:r>
              <a:t>SOURCES (not spoken; token = value &lt;- artefact path [basis]):</a:t>
            </a:r>
          </a:p>
          <a:p>
            <a:r>
              <a:t>ARM_MEAN = 3.21477 &lt;- bench_results/baseline_tuning126.json :: science/rmsd_arm/mean [built_chain]</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B3_TORS_L = 89 &lt;- same rows, targets where the pipeline wins (DERIVED)</a:t>
            </a:r>
          </a:p>
          <a:p>
            <a:r>
              <a:t>B3_TORS_MINUS_ARM = 0.555693 &lt;- s13/cache/tors_rows.npz['a_pepPos'][*]/rmsd_build minus bench_results/cache/1fc9f2dcf489e2fb/&lt;pdb&gt;.json :: rmsd_arm (paired mean) [built_chain] (DERIVED)</a:t>
            </a:r>
          </a:p>
          <a:p>
            <a:r>
              <a:t>B3_TORS_MINUS_ARM_MDE = 0.369361 &lt;- same rows, 2.8016 x SE (DERIVED)</a:t>
            </a:r>
          </a:p>
          <a:p>
            <a:r>
              <a:t>B3_TORS_MINUS_ARM_MEDIAN = 0.231395 &lt;- same rows, paired median [built_chain] (DERIVED)</a:t>
            </a:r>
          </a:p>
          <a:p>
            <a:r>
              <a:t>B3_TORS_MINUS_ARM_SE = 0.131839 &lt;- same rows, SE of the paired mean (DERIVED)</a:t>
            </a:r>
          </a:p>
          <a:p>
            <a:r>
              <a:t>B3_TORS_W = 37 &lt;- same rows, targets where the torsion predictor beats the pipeline (DERIVED)</a:t>
            </a:r>
          </a:p>
          <a:p>
            <a:r>
              <a:t>DLA_SO128 = 8128 &lt;- s26/results/q_dla.json :: results/fixed/n7_L3/dim_so</a:t>
            </a:r>
          </a:p>
          <a:p>
            <a:r>
              <a:t>HELIX = 4.06475 &lt;- s12/results/s14_ladder.json :: rows/L0_constant_helix/mean [built_chain]</a:t>
            </a:r>
          </a:p>
          <a:p>
            <a:r>
              <a:t>PAULI_N_CELLS = 104 &lt;- s13/results/geo_pauli.json :: len(cells)</a:t>
            </a:r>
          </a:p>
          <a:p>
            <a:r>
              <a:t>PAULI_RATIO_LEGACY = 0.996949 &lt;- s13/results/geo_pauli.json :: cells[*]/legacy/ratio_meas_over_pred_exact (median) (DERIVED)</a:t>
            </a:r>
          </a:p>
          <a:p>
            <a:r>
              <a:t>PROD_KL_1A13 = 5.43789e-05 &lt;- s26/results/probe/1A13.json :: product_diagnostics/zrank/kl_gibbs_to_product</a:t>
            </a:r>
          </a:p>
          <a:p>
            <a:r>
              <a:t>PROD_KL_IDEAL = 7.23403e-17 &lt;- s26/results/probe/1A13.json :: product_diagnostics/ideal_ladder/kl_gibbs_to_product</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TORS = 3.77046 &lt;- s13/results/tors_eval.json :: reports/a_pepPos/build/mean [built_chain]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C says: learn a better distance prior, and keep physics honest. The prior bounds the accuracy, so the plan has five parts. C1 reproduced the closures this rests on, to the third decimal. A learned ranker on real features moves from 3.043 to 3.026 angstroms as its training set grows; the same model with a leaked label reaches 2.146. A perfect ranker inside the shipped top-25 returns 2.609 against 3.468 for a random member. So learning a ranker is closed, and the proposal is not that. C2 is a ladder of 11 prior inputs, from no language model to the full 650-million-parameter embedding. Its falsifier was fixed before the first run: a rung must beat the shipped posterior on the built chain by more than its own MDE, with a fold-clustered interval excluding zero on five of five folds. Seven rungs are trained; the evaluations are running. C3 asked whether AMBER relaxation is an accuracy step. It is not. The relaxation moves the chain 0.220 angstroms and costs +0.0207; a random move of exactly the same size costs +0.0096. Physics is worse than noise, and its displacement points slightly away from the native. So refine-with-physics is kept as a validity step only: it brings 125 of 126 chains below a thousand kilocalories per mole, though on two targets it breaks a virtual bond. C4, routers, and C5, a learned common-mode correction, are pre-registered and pending. The verdict on C is pending the ladder.</a:t>
            </a:r>
          </a:p>
          <a:p/>
          <a:p>
            <a:r>
              <a:t>ALSO (not spoken):</a:t>
            </a:r>
          </a:p>
          <a:p>
            <a:r>
              <a:t>Verdict form (campaign prompt): KEEP AS STATED / KEEP WITH EDITS / REPLACE; lane P's `s26/PROPOSAL_C.md` is DRAFT and its verdict is pending C2 to C5. The C1 learning curve spans 3.0433 (n = 8) to 3.0258 (full) on the weighted-average basis; the leaked label reaches 2.5342 at n = 8. Perfect ranker in the top-25 2.6087, random member 3.4676, distogram argmin 3.4540 (single window). C2 anchor (L56, L57): selection max abs 0.0e+00 and point cloud 7.3e-14 against the production cache; the built chain through the ladder's own path is 3.2126 A, the leaderboard-rebuild basis, so every C2 contrast is paired on that basis and the 0.002 A offset to 3.2148 is a basis difference, not an effect. Rungs with all five fold checkpoints on disk at build time: 7. C3 (L39, L46): AMBER vs built chain +0.0207 [fold CI [+0.0154, +0.0290]], vs random +0.0111 [[+0.0062, +0.0171]] at 1.12 x MDE (Type-M: sign measured, magnitude an upper bound), vs toward-member +0.0385 [[+0.0298, +0.0479]]; ORACLE cosine of the displacement with the true residual -0.049, positive on 36.5% of targets; before relaxation 58.7% of built chains sit above 1e4 kcal/mol; after it 125 of 126 converge (9KAR ends at 1262 kcal/mol) and the virtual CA-CA bond stretches from 3.804 to 3.867 A. The free calibration flag (L53): the distance the relaxation moves a chain predicts its error, Spearman +0.433 partial on n and Rg; never a selector. Stage 2 of C3 repeats the seven contrasts on the best C2 rung when lane P delivers it.</a:t>
            </a:r>
          </a:p>
          <a:p/>
          <a:p>
            <a:r>
              <a:t>SOURCES (not spoken; token = value &lt;- artefact path [basis]):</a:t>
            </a:r>
          </a:p>
          <a:p>
            <a:r>
              <a:t>ARM_MEAN = 3.21477 &lt;- bench_results/baseline_tuning126.json :: science/rmsd_arm/mean [built_chain]</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C1_S17_DIST_PICK = 3.454 &lt;- s17/results/inband.json :: rows[*]/cells/25/dist_pick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C2_ANCHOR_CLOUD_MAXABS = 7.25253e-14 &lt;- s26/results/p_ladder_report_shipped_s0.json :: cloud/maxabs_vs_cache</a:t>
            </a:r>
          </a:p>
          <a:p>
            <a:r>
              <a:t>C2_ANCHOR_SEL_MAXABS = 0 &lt;- s26/results/p_ladder_report_shipped_s0.json :: sel/maxabs_vs_cache</a:t>
            </a:r>
          </a:p>
          <a:p>
            <a:r>
              <a:t>C2_N_RUNGS = 11 &lt;- s26/PREREG_C2.md / s26/PROPOSAL_C.md: rungs shipped, noesm, conly, pca32, pca32f, pca128, raw, esm8m, wide, pairnet, mix (LEDGER)</a:t>
            </a:r>
          </a:p>
          <a:p>
            <a:r>
              <a:t>C2_RUNGS_TRAINED = 7 &lt;- s26/models/p_ladder/&lt;rung&gt;_fold{0..4}_s0.pt (rungs with all five fold checkpoints; L41 lists noesm, conly, pca32, wide, pca32f, pca128, esm8m) (DERIVED)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C3_BOND_AFTER = 3.86655 &lt;- s26/results/ph_c3_nativefree.json :: summary/amb_bond_mean/mean</a:t>
            </a:r>
          </a:p>
          <a:p>
            <a:r>
              <a:t>C3_BOND_BEFORE = 3.80395 &lt;- s26/results/ph_c3_nativefree.json :: summary/ca_bond_mean/mean</a:t>
            </a:r>
          </a:p>
          <a:p>
            <a:r>
              <a:t>C3_COS = -0.0490645 &lt;- s26/results/ph_c3_stage1.json :: rows[*]/cos_amber (mean) (DERIVED)</a:t>
            </a:r>
          </a:p>
          <a:p>
            <a:r>
              <a:t>C3_COS_FRAC_POS = 0.365079 &lt;- s26/results/ph_c3_stage1.json :: summary/frac_cos_amber_positive</a:t>
            </a:r>
          </a:p>
          <a:p>
            <a:r>
              <a:t>C3_E1_MAX = 1262.41 &lt;- s26/results/ph_c3_nativefree.json :: summary/e1_max</a:t>
            </a:r>
          </a:p>
          <a:p>
            <a:r>
              <a:t>C3_FRAC_E0_OVER_1E4 = 0.587302 &lt;- s26/results/ph_c3_nativefree.json :: summary/frac_e0_over_1e4</a:t>
            </a:r>
          </a:p>
          <a:p>
            <a:r>
              <a:t>C3_MAG = 0.219778 &lt;- s26/results/ph_c3_nativefree.json :: summary/mag_sup/mean</a:t>
            </a:r>
          </a:p>
          <a:p>
            <a:r>
              <a:t>C3_N_CONVERGED = 125 &lt;- s26/results/ph_c3_nativefree.json :: summary/n_converged_le_1000</a:t>
            </a:r>
          </a:p>
          <a:p>
            <a:r>
              <a:t>C3_RANDOM_VS_NONE = 0.00961423 &lt;- s26/results/ph_c3_stage1.json :: summary/'stage1 RANDOM minus do-nothing'/effect [displaced built_chain minus built_chain]</a:t>
            </a:r>
          </a:p>
          <a:p>
            <a:r>
              <a:t>STRAIN_RHO_MOVED = 0.432567 &lt;- s26/results/ph_strain.json :: summary/partial_n_rg/moved/rho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verdict entry in `s26/LEDGER.md`):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direction A as a scientific study rather than an accuracy study, because on this diagonal Hamiltonian an ADAPT-grown circuit is a product circuit (`s26/results/q_var.json`, L35) and the set-equality theorem bounds any readout by the classical prefix. Direction B as stated cannot be measured on this machine (`s26/results/b1_feasibility.json`).</a:t>
            </a:r>
          </a:p>
          <a:p/>
          <a:p>
            <a:r>
              <a:t>SOURCES (not spoken; token = value &lt;- artefact path [basis]):</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ADAPT-VQE on this Hamiltonian (PENDING)</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PENDING: wording and verdict from s26/PROPOSAL_A.md when lane Q posts it; the facts shown are measured (A2 L27, A4 L35; Adversary L45, L47)</a:t>
            </a:r>
          </a:p>
        </p:txBody>
      </p:sp>
      <p:sp>
        <p:nvSpPr>
          <p:cNvPr id="5" name="Rectangle 4"/>
          <p:cNvSpPr/>
          <p:nvPr/>
        </p:nvSpPr>
        <p:spPr>
          <a:xfrm>
            <a:off x="411480" y="1234439"/>
            <a:ext cx="6675120" cy="2812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583680" cy="2720608"/>
          </a:xfrm>
          <a:prstGeom prst="rect">
            <a:avLst/>
          </a:prstGeom>
        </p:spPr>
      </p:pic>
      <p:sp>
        <p:nvSpPr>
          <p:cNvPr id="7" name="TextBox 6"/>
          <p:cNvSpPr txBox="1"/>
          <p:nvPr/>
        </p:nvSpPr>
        <p:spPr>
          <a:xfrm>
            <a:off x="502920" y="4114800"/>
            <a:ext cx="6492240" cy="2286000"/>
          </a:xfrm>
          <a:prstGeom prst="rect">
            <a:avLst/>
          </a:prstGeom>
          <a:noFill/>
        </p:spPr>
        <p:txBody>
          <a:bodyPr wrap="square">
            <a:spAutoFit/>
          </a:bodyPr>
          <a:lstStyle/>
          <a:p>
            <a:pPr>
              <a:spcAft>
                <a:spcPts val="300"/>
              </a:spcAft>
            </a:pPr>
            <a:r>
              <a:rPr sz="1100" b="0">
                <a:solidFill>
                  <a:srgbClr val="ECECF0"/>
                </a:solidFill>
                <a:latin typeface="Calibri"/>
              </a:rPr>
              <a:t>• A4 (lane Q's figure, s26/results/q_var.json): grown circuits at alpha = 1 hold 1 to 3 distinct operators (product circuits, per the adapt sets of q_dla.json); their variance does not decay with n (slopes -0.079 / +0.006 at T = 0, +0.035 / -0.008 at T = 0.3) and is 1.6 to 370 x the fixed ansatz's at matched n. A large gradient from a product circuit is not trainability.</a:t>
            </a:r>
          </a:p>
          <a:p>
            <a:pPr>
              <a:spcAft>
                <a:spcPts val="300"/>
              </a:spcAft>
            </a:pPr>
            <a:r>
              <a:rPr sz="1100" b="0">
                <a:solidFill>
                  <a:srgbClr val="ECECF0"/>
                </a:solidFill>
                <a:latin typeface="Calibri"/>
              </a:rPr>
              <a:t>• the one non-trivial grown family (alpha 0.25, pool L2, 4 to 21 distinct 2-local strings) decays at -0.302 per qubit vs the fixed -0.243; both far from a 2-design's -1; no CI on the difference is on disk (L47)</a:t>
            </a:r>
          </a:p>
        </p:txBody>
      </p:sp>
      <p:sp>
        <p:nvSpPr>
          <p:cNvPr id="8" name="TextBox 7"/>
          <p:cNvSpPr txBox="1"/>
          <p:nvPr/>
        </p:nvSpPr>
        <p:spPr>
          <a:xfrm>
            <a:off x="7269480" y="1280160"/>
            <a:ext cx="452628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the fixed RY/CNOT ansatz with an adaptively grown one (qubit-ADAPT pools V and L2)</a:t>
            </a:r>
          </a:p>
          <a:p>
            <a:pPr>
              <a:spcAft>
                <a:spcPts val="300"/>
              </a:spcAft>
            </a:pPr>
            <a:r>
              <a:rPr sz="1150" b="1">
                <a:solidFill>
                  <a:srgbClr val="F2A93B"/>
                </a:solidFill>
                <a:latin typeface="Calibri"/>
              </a:rPr>
              <a:t>A2, final: the algebra offers nothing to grow into</a:t>
            </a:r>
          </a:p>
          <a:p>
            <a:pPr>
              <a:spcAft>
                <a:spcPts val="300"/>
              </a:spcAft>
            </a:pPr>
            <a:r>
              <a:rPr sz="1150" b="0">
                <a:solidFill>
                  <a:srgbClr val="ECECF0"/>
                </a:solidFill>
                <a:latin typeface="Calibri"/>
              </a:rPr>
              <a:t>• dim(DLA) at n = 7: 7 at depth 1 (abelian), 8,128 from depth 2 = dim so(128) = 8,128; pool V generates 2,080, pool L2 8,128; ADAPT-selected sets: dim 7 at alpha = 1, 1,025 at alpha = 0.25 (L2)</a:t>
            </a:r>
          </a:p>
          <a:p>
            <a:pPr>
              <a:spcAft>
                <a:spcPts val="300"/>
              </a:spcAft>
            </a:pPr>
            <a:r>
              <a:rPr sz="1150" b="1">
                <a:solidFill>
                  <a:srgbClr val="F2A93B"/>
                </a:solidFill>
                <a:latin typeface="Calibri"/>
              </a:rPr>
              <a:t>The target is a product state</a:t>
            </a:r>
          </a:p>
          <a:p>
            <a:pPr>
              <a:spcAft>
                <a:spcPts val="300"/>
              </a:spcAft>
            </a:pPr>
            <a:r>
              <a:rPr sz="1150" b="0">
                <a:solidFill>
                  <a:srgbClr val="ECECF0"/>
                </a:solidFill>
                <a:latin typeface="Calibri"/>
              </a:rPr>
              <a:t>• KL(Gibbs || product of its marginals) = 7.2e-17 on the ideal ladder, 5.4e-05 on 1A13; a 7-parameter RY layer reaches the Gibbs state to 5.4e-05 nats, the deployed 21-parameter circuit stops at 0.903</a:t>
            </a:r>
          </a:p>
          <a:p>
            <a:pPr>
              <a:spcAft>
                <a:spcPts val="300"/>
              </a:spcAft>
            </a:pPr>
            <a:r>
              <a:rPr sz="1150" b="0">
                <a:solidFill>
                  <a:srgbClr val="ECECF0"/>
                </a:solidFill>
                <a:latin typeface="Calibri"/>
              </a:rPr>
              <a:t>• A1, endpoint: running (fixed vs ADAPT-grown, built chain primary); expected null by the set-equality theorem</a:t>
            </a:r>
          </a:p>
          <a:p>
            <a:pPr>
              <a:spcAft>
                <a:spcPts val="300"/>
              </a:spcAft>
            </a:pPr>
            <a:r>
              <a:rPr sz="1150" b="1">
                <a:solidFill>
                  <a:srgbClr val="ECECF0"/>
                </a:solidFill>
                <a:latin typeface="Calibri"/>
              </a:rPr>
              <a:t>• Verdict: PENDING s26/PROPOSAL_A.md. Nothing here is a width-scaling argument for ADAPT on this Hamiltonian (L35).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 learned folding model as the prior, and its replacement</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DRAFT; B1 final) and s26/PROPOSAL_B_REPLACEMENT.md (lane Q); the A2 and A4 figures are on slides 6 and 8</a:t>
            </a:r>
          </a:p>
        </p:txBody>
      </p:sp>
      <p:sp>
        <p:nvSpPr>
          <p:cNvPr id="5" name="TextBox 4"/>
          <p:cNvSpPr txBox="1"/>
          <p:nvPr/>
        </p:nvSpPr>
        <p:spPr>
          <a:xfrm>
            <a:off x="548640" y="1280160"/>
            <a:ext cx="557784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or augment the shipped distance prior with the output of a large pretrained folding model, because the prior's accuracy is the only steep lever the record measured.</a:t>
            </a:r>
          </a:p>
          <a:p>
            <a:pPr>
              <a:spcAft>
                <a:spcPts val="300"/>
              </a:spcAft>
            </a:pPr>
            <a:r>
              <a:rPr sz="1150" b="1">
                <a:solidFill>
                  <a:srgbClr val="F2A93B"/>
                </a:solidFill>
                <a:latin typeface="Calibri"/>
              </a:rPr>
              <a:t>B1, final: the folding model cannot run on this machine</a:t>
            </a:r>
          </a:p>
          <a:p>
            <a:pPr>
              <a:spcAft>
                <a:spcPts val="300"/>
              </a:spcAft>
            </a:pPr>
            <a:r>
              <a:rPr sz="1150" b="0">
                <a:solidFill>
                  <a:srgbClr val="ECECF0"/>
                </a:solidFill>
                <a:latin typeface="Calibri"/>
              </a:rPr>
              <a:t>• no checkpoint on disk; 8.45 GB to download</a:t>
            </a:r>
          </a:p>
          <a:p>
            <a:pPr>
              <a:spcAft>
                <a:spcPts val="300"/>
              </a:spcAft>
            </a:pPr>
            <a:r>
              <a:rPr sz="1150" b="0">
                <a:solidFill>
                  <a:srgbClr val="ECECF0"/>
                </a:solidFill>
                <a:latin typeface="Calibri"/>
              </a:rPr>
              <a:t>• openfold and omegaconf absent; openfold needs nvcc and Python &lt;= 3.9; this box is Python 3.13, CPU-only torch</a:t>
            </a:r>
          </a:p>
          <a:p>
            <a:pPr>
              <a:spcAft>
                <a:spcPts val="300"/>
              </a:spcAft>
            </a:pPr>
            <a:r>
              <a:rPr sz="1150" b="0">
                <a:solidFill>
                  <a:srgbClr val="ECECF0"/>
                </a:solidFill>
                <a:latin typeface="Calibri"/>
              </a:rPr>
              <a:t>• 8.76 GB resident as fair-esm loads it (fp16 LM, fp32 trunk) against 4.4 GB of headroom; fp16 everywhere is still 7.4 GB</a:t>
            </a:r>
          </a:p>
          <a:p>
            <a:pPr>
              <a:spcAft>
                <a:spcPts val="300"/>
              </a:spcAft>
            </a:pPr>
            <a:r>
              <a:rPr sz="1150" b="1">
                <a:solidFill>
                  <a:srgbClr val="F2A93B"/>
                </a:solidFill>
                <a:latin typeface="Calibri"/>
              </a:rPr>
              <a:t>B2, pending: the feasible-scale ladder</a:t>
            </a:r>
          </a:p>
          <a:p>
            <a:pPr>
              <a:spcAft>
                <a:spcPts val="300"/>
              </a:spcAft>
            </a:pPr>
            <a:r>
              <a:rPr sz="1150" b="0">
                <a:solidFill>
                  <a:srgbClr val="ECECF0"/>
                </a:solidFill>
                <a:latin typeface="Calibri"/>
              </a:rPr>
              <a:t>• the ESM-2 contact head alone as a prior input; the 8M language model against the 650M (rungs conly and esm8m of the C2 ladder)</a:t>
            </a:r>
          </a:p>
          <a:p>
            <a:pPr>
              <a:spcAft>
                <a:spcPts val="300"/>
              </a:spcAft>
            </a:pPr>
            <a:r>
              <a:rPr sz="1150" b="1">
                <a:solidFill>
                  <a:srgbClr val="F2A93B"/>
                </a:solidFill>
                <a:latin typeface="Calibri"/>
              </a:rPr>
              <a:t>B3, pending: where the pipeline beats sequence-only, and is that set recognisable native-free?</a:t>
            </a:r>
          </a:p>
          <a:p>
            <a:pPr>
              <a:spcAft>
                <a:spcPts val="300"/>
              </a:spcAft>
            </a:pPr>
            <a:r>
              <a:rPr sz="1150" b="0">
                <a:solidFill>
                  <a:srgbClr val="ECECF0"/>
                </a:solidFill>
                <a:latin typeface="Calibri"/>
              </a:rPr>
              <a:t>• built chains: pipeline 3.2148, sequence-only torsion predictor 3.7705, constant helix 4.0648 A; torsion minus pipeline +0.5557 (SE 0.1318, MDE 0.3694, 37W/89L); the classifier test is pending</a:t>
            </a:r>
          </a:p>
          <a:p>
            <a:pPr>
              <a:spcAft>
                <a:spcPts val="300"/>
              </a:spcAft>
            </a:pPr>
            <a:r>
              <a:rPr sz="1150" b="1">
                <a:solidFill>
                  <a:srgbClr val="ECECF0"/>
                </a:solidFill>
                <a:latin typeface="Calibri"/>
              </a:rPr>
              <a:t>• Verdict: PENDING B2/B3. If null: REPLACE with the trainability paper (right).</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300"/>
              </a:spcAft>
            </a:pPr>
            <a:r>
              <a:rPr sz="1150" b="1">
                <a:solidFill>
                  <a:srgbClr val="F2A93B"/>
                </a:solidFill>
                <a:latin typeface="Calibri"/>
              </a:rPr>
              <a:t>The replacement: publish the trainability result</a:t>
            </a:r>
          </a:p>
          <a:p>
            <a:pPr>
              <a:spcAft>
                <a:spcPts val="300"/>
              </a:spcAft>
            </a:pPr>
            <a:r>
              <a:rPr sz="1150" b="0">
                <a:solidFill>
                  <a:srgbClr val="ECECF0"/>
                </a:solidFill>
                <a:latin typeface="Calibri"/>
              </a:rPr>
              <a:t>• chain geometry fixes which residues a distance term can depend on (exact theorem); that fixes the energy's Pauli spectrum once raw AMBER's clash spike is conditioned away</a:t>
            </a:r>
          </a:p>
          <a:p>
            <a:pPr>
              <a:spcAft>
                <a:spcPts val="300"/>
              </a:spcAft>
            </a:pPr>
            <a:r>
              <a:rPr sz="1150" b="0">
                <a:solidFill>
                  <a:srgbClr val="ECECF0"/>
                </a:solidFill>
                <a:latin typeface="Calibri"/>
              </a:rPr>
              <a:t>• the spectrum times the circuit's own kernel predicts the measured gradient variance with no free parameter: median measured/predicted 0.997 over 104 cells</a:t>
            </a:r>
          </a:p>
          <a:p>
            <a:pPr>
              <a:spcAft>
                <a:spcPts val="300"/>
              </a:spcAft>
            </a:pPr>
            <a:r>
              <a:rPr sz="1150" b="0">
                <a:solidFill>
                  <a:srgbClr val="ECECF0"/>
                </a:solidFill>
                <a:latin typeface="Calibri"/>
              </a:rPr>
              <a:t>• at depth &gt;= 3 the kernel is flat in Pauli weight: the force field's locality is not what limits training; the width is</a:t>
            </a:r>
          </a:p>
          <a:p>
            <a:pPr>
              <a:spcAft>
                <a:spcPts val="300"/>
              </a:spcAft>
            </a:pPr>
            <a:r>
              <a:rPr sz="1150" b="0">
                <a:solidFill>
                  <a:srgbClr val="ECECF0"/>
                </a:solidFill>
                <a:latin typeface="Calibri"/>
              </a:rPr>
              <a:t>• the Lie algebra is the full so(2^n) from depth 2 (dim 8,128 at n = 7): nothing algebraic protects the ansatz at scale; n = 4..13 at depth 3 is the shallow regime</a:t>
            </a:r>
          </a:p>
          <a:p>
            <a:pPr>
              <a:spcAft>
                <a:spcPts val="300"/>
              </a:spcAft>
            </a:pPr>
            <a:r>
              <a:rPr sz="1150" b="0">
                <a:solidFill>
                  <a:srgbClr val="ECECF0"/>
                </a:solidFill>
                <a:latin typeface="Calibri"/>
              </a:rPr>
              <a:t>• the deployed Gibbs target is a product state (KL to its product of marginals 5.4e-05 on 1A13); an ADAPT-grown circuit on it grows no entanglement, so its gradients do not decay because there is nothing to train</a:t>
            </a:r>
          </a:p>
          <a:p>
            <a:pPr>
              <a:spcAft>
                <a:spcPts val="300"/>
              </a:spcAft>
            </a:pPr>
            <a:r>
              <a:rPr sz="1150" b="0">
                <a:solidFill>
                  <a:srgbClr val="ECECF0"/>
                </a:solidFill>
                <a:latin typeface="Calibri"/>
              </a:rPr>
              <a:t>• the optimiser trains (78% to 89% of the gap) and the readout cannot tell (0.24 x MDE); the tail is a subset of the classical prefix (2,592 cells, 0 violations)</a:t>
            </a:r>
          </a:p>
          <a:p>
            <a:pPr>
              <a:spcAft>
                <a:spcPts val="300"/>
              </a:spcAft>
            </a:pPr>
            <a:r>
              <a:rPr sz="1150" b="1">
                <a:solidFill>
                  <a:srgbClr val="F2A93B"/>
                </a:solidFill>
                <a:latin typeface="Calibri"/>
              </a:rPr>
              <a:t>Two claims the paper will not make</a:t>
            </a:r>
          </a:p>
          <a:p>
            <a:pPr>
              <a:spcAft>
                <a:spcPts val="300"/>
              </a:spcAft>
            </a:pPr>
            <a:r>
              <a:rPr sz="1150" b="0">
                <a:solidFill>
                  <a:srgbClr val="ECECF0"/>
                </a:solidFill>
                <a:latin typeface="Calibri"/>
              </a:rPr>
              <a:t>• a quantum advantage (7 qubits, exact simulation, selection classical by theorem, a product-state target)</a:t>
            </a:r>
          </a:p>
          <a:p>
            <a:pPr>
              <a:spcAft>
                <a:spcPts val="300"/>
              </a:spcAft>
            </a:pPr>
            <a:r>
              <a:rPr sz="1150" b="0">
                <a:solidFill>
                  <a:srgbClr val="ECECF0"/>
                </a:solidFill>
                <a:latin typeface="Calibri"/>
              </a:rPr>
              <a:t>• a barren plateau from a small gradient; 'no plateau' is said only as 'at n &lt;= 13, depth 3, this ansatz'</a:t>
            </a:r>
          </a:p>
          <a:p>
            <a:pPr>
              <a:spcAft>
                <a:spcPts val="300"/>
              </a:spcAft>
            </a:pPr>
            <a:r>
              <a:rPr sz="115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 physics for validity, not accuracy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(DRAFT, lane P) and s26/C3_RESULT.md (lane PH, L39, Adversary L46); verdict PENDING C2 to C5</a:t>
            </a:r>
          </a:p>
        </p:txBody>
      </p:sp>
      <p:sp>
        <p:nvSpPr>
          <p:cNvPr id="5" name="TextBox 4"/>
          <p:cNvSpPr txBox="1"/>
          <p:nvPr/>
        </p:nvSpPr>
        <p:spPr>
          <a:xfrm>
            <a:off x="548640" y="1280160"/>
            <a:ext cx="5669280" cy="5120640"/>
          </a:xfrm>
          <a:prstGeom prst="rect">
            <a:avLst/>
          </a:prstGeom>
          <a:noFill/>
        </p:spPr>
        <p:txBody>
          <a:bodyPr wrap="square">
            <a:spAutoFit/>
          </a:bodyPr>
          <a:lstStyle/>
          <a:p>
            <a:pPr>
              <a:spcAft>
                <a:spcPts val="300"/>
              </a:spcAft>
            </a:pPr>
            <a:r>
              <a:rPr sz="1200" b="1">
                <a:solidFill>
                  <a:srgbClr val="F2A93B"/>
                </a:solidFill>
                <a:latin typeface="Calibri"/>
              </a:rPr>
              <a:t>What the proposal says</a:t>
            </a:r>
          </a:p>
          <a:p>
            <a:pPr>
              <a:spcAft>
                <a:spcPts val="300"/>
              </a:spcAft>
            </a:pPr>
            <a:r>
              <a:rPr sz="1200" b="0">
                <a:solidFill>
                  <a:srgbClr val="ECECF0"/>
                </a:solidFill>
                <a:latin typeface="Calibri"/>
              </a:rPr>
              <a:t>• The prior bounds the accuracy; improve it by learning: better inputs (C2), physics kept honest (C3), routers for the per-target set size (C4), a learned correction of the common-mode error (C5); C1 reproduces the closures first.</a:t>
            </a:r>
          </a:p>
          <a:p>
            <a:pPr>
              <a:spcAft>
                <a:spcPts val="300"/>
              </a:spcAft>
            </a:pPr>
            <a:r>
              <a:rPr sz="1200" b="0">
                <a:solidFill>
                  <a:srgbClr val="ECECF0"/>
                </a:solidFill>
                <a:latin typeface="Calibri"/>
              </a:rPr>
              <a:t>• Not 'learn a better ranker': ranking inside the pool is closed at four levels; the prior is the only steep lever.</a:t>
            </a:r>
          </a:p>
          <a:p>
            <a:pPr>
              <a:spcAft>
                <a:spcPts val="300"/>
              </a:spcAft>
            </a:pPr>
            <a:r>
              <a:rPr sz="1200" b="1">
                <a:solidFill>
                  <a:srgbClr val="F2A93B"/>
                </a:solidFill>
                <a:latin typeface="Calibri"/>
              </a:rPr>
              <a:t>C1, final: the closures reproduce to the third decimal</a:t>
            </a:r>
          </a:p>
          <a:p>
            <a:pPr>
              <a:spcAft>
                <a:spcPts val="300"/>
              </a:spcAft>
            </a:pPr>
            <a:r>
              <a:rPr sz="1200" b="0">
                <a:solidFill>
                  <a:srgbClr val="ECECF0"/>
                </a:solidFill>
                <a:latin typeface="Calibri"/>
              </a:rPr>
              <a:t>• set-transformer ranker, real features: 3.043 (n = 8) to 3.026 A (full); with a leaked label 2.534 to 2.146 (ORACLE; weighted-average basis)</a:t>
            </a:r>
          </a:p>
          <a:p>
            <a:pPr>
              <a:spcAft>
                <a:spcPts val="300"/>
              </a:spcAft>
            </a:pPr>
            <a:r>
              <a:rPr sz="1200" b="0">
                <a:solidFill>
                  <a:srgbClr val="ECECF0"/>
                </a:solidFill>
                <a:latin typeface="Calibri"/>
              </a:rPr>
              <a:t>• perfect ranker inside the shipped top-25: 2.609 A vs random member 3.468 and distogram argmin 3.454 (single window)</a:t>
            </a:r>
          </a:p>
          <a:p>
            <a:pPr>
              <a:spcAft>
                <a:spcPts val="300"/>
              </a:spcAft>
            </a:pPr>
            <a:r>
              <a:rPr sz="1200" b="1">
                <a:solidFill>
                  <a:srgbClr val="F2A93B"/>
                </a:solidFill>
                <a:latin typeface="Calibri"/>
              </a:rPr>
              <a:t>C2, running: the prior-input ladder</a:t>
            </a:r>
          </a:p>
          <a:p>
            <a:pPr>
              <a:spcAft>
                <a:spcPts val="300"/>
              </a:spcAft>
            </a:pPr>
            <a:r>
              <a:rPr sz="1200" b="0">
                <a:solidFill>
                  <a:srgbClr val="ECECF0"/>
                </a:solidFill>
                <a:latin typeface="Calibri"/>
              </a:rPr>
              <a:t>• 11 rungs (no ESM, contact head only, pca32, pca32f, pca128, raw, 8M vs 650M, wide, pairnet, mix); 7 rungs have all five fold models on disk; evaluations running</a:t>
            </a:r>
          </a:p>
          <a:p>
            <a:pPr>
              <a:spcAft>
                <a:spcPts val="300"/>
              </a:spcAft>
            </a:pPr>
            <a:r>
              <a:rPr sz="1200" b="0">
                <a:solidFill>
                  <a:srgbClr val="ECECF0"/>
                </a:solidFill>
                <a:latin typeface="Calibri"/>
              </a:rPr>
              <a:t>• falsifier, fixed before the first run: beat the shipped posterior on the built chain by more than its own MDE, fold-clustered CI excluding zero, 5/5 folds</a:t>
            </a:r>
          </a:p>
          <a:p>
            <a:pPr>
              <a:spcAft>
                <a:spcPts val="300"/>
              </a:spcAft>
            </a:pPr>
            <a:r>
              <a:rPr sz="1200" b="0">
                <a:solidFill>
                  <a:srgbClr val="ECECF0"/>
                </a:solidFill>
                <a:latin typeface="Calibri"/>
              </a:rPr>
              <a:t>• anchor: selection and point cloud reproduce the production cache (0e+00, 7.3e-14); built chain on the rebuild basis 3.2126 A (L57)</a:t>
            </a:r>
          </a:p>
        </p:txBody>
      </p:sp>
      <p:sp>
        <p:nvSpPr>
          <p:cNvPr id="6" name="TextBox 5"/>
          <p:cNvSpPr txBox="1"/>
          <p:nvPr/>
        </p:nvSpPr>
        <p:spPr>
          <a:xfrm>
            <a:off x="6446520" y="1280160"/>
            <a:ext cx="5349240" cy="5120640"/>
          </a:xfrm>
          <a:prstGeom prst="rect">
            <a:avLst/>
          </a:prstGeom>
          <a:noFill/>
        </p:spPr>
        <p:txBody>
          <a:bodyPr wrap="square">
            <a:spAutoFit/>
          </a:bodyPr>
          <a:lstStyle/>
          <a:p>
            <a:pPr>
              <a:spcAft>
                <a:spcPts val="300"/>
              </a:spcAft>
            </a:pPr>
            <a:r>
              <a:rPr sz="1200" b="1">
                <a:solidFill>
                  <a:srgbClr val="F2A93B"/>
                </a:solidFill>
                <a:latin typeface="Calibri"/>
              </a:rPr>
              <a:t>C3, final: refine-with-physics is a validity step, not an accuracy step</a:t>
            </a:r>
          </a:p>
          <a:p>
            <a:pPr>
              <a:spcAft>
                <a:spcPts val="300"/>
              </a:spcAft>
            </a:pPr>
            <a:r>
              <a:rPr sz="1200" b="0">
                <a:solidFill>
                  <a:srgbClr val="ECECF0"/>
                </a:solidFill>
                <a:latin typeface="Calibri"/>
              </a:rPr>
              <a:t>• the production relaxation moves the built chain 0.220 A and costs +0.0207 A (fold CI [+0.0154, +0.0290]), 2.16 x MDE (relaxed minus built chain)</a:t>
            </a:r>
          </a:p>
          <a:p>
            <a:pPr>
              <a:spcAft>
                <a:spcPts val="300"/>
              </a:spcAft>
            </a:pPr>
            <a:r>
              <a:rPr sz="1200" b="0">
                <a:solidFill>
                  <a:srgbClr val="ECECF0"/>
                </a:solidFill>
                <a:latin typeface="Calibri"/>
              </a:rPr>
              <a:t>• a random move of the same size costs +0.0096 A [+0.0077, +0.0122]; AMBER minus random +0.0111 [+0.0062, +0.0171], 5/5 folds, 1.12 x MDE: Type-M zone, sign measured, size an upper bound</a:t>
            </a:r>
          </a:p>
          <a:p>
            <a:pPr>
              <a:spcAft>
                <a:spcPts val="300"/>
              </a:spcAft>
            </a:pPr>
            <a:r>
              <a:rPr sz="1200" b="0">
                <a:solidFill>
                  <a:srgbClr val="ECECF0"/>
                </a:solidFill>
                <a:latin typeface="Calibri"/>
              </a:rPr>
              <a:t>• AMBER minus a move of the same size toward a random pool member: +0.0385 A [+0.0298, +0.0479]; ORACLE cosine of the displacement with the true residual: -0.049</a:t>
            </a:r>
          </a:p>
          <a:p>
            <a:pPr>
              <a:spcAft>
                <a:spcPts val="300"/>
              </a:spcAft>
            </a:pPr>
            <a:r>
              <a:rPr sz="1200" b="0">
                <a:solidFill>
                  <a:srgbClr val="ECECF0"/>
                </a:solidFill>
                <a:latin typeface="Calibri"/>
              </a:rPr>
              <a:t>• what validity buys: 58.7% of built chains start above 1e4 kcal/mol; 125 of 126 converge below 1000 (9KAR ends at 1262); a validity step on 124 of 126, on 2BP4 and 9KAR it breaks a virtual bond</a:t>
            </a:r>
          </a:p>
          <a:p>
            <a:pPr>
              <a:spcAft>
                <a:spcPts val="300"/>
              </a:spcAft>
            </a:pPr>
            <a:r>
              <a:rPr sz="1200" b="1">
                <a:solidFill>
                  <a:srgbClr val="F2A93B"/>
                </a:solidFill>
                <a:latin typeface="Calibri"/>
              </a:rPr>
              <a:t>C4, C5: pre-registered, pending</a:t>
            </a:r>
          </a:p>
          <a:p>
            <a:pPr>
              <a:spcAft>
                <a:spcPts val="300"/>
              </a:spcAft>
            </a:pPr>
            <a:r>
              <a:rPr sz="1200" b="0">
                <a:solidFill>
                  <a:srgbClr val="ECECF0"/>
                </a:solidFill>
                <a:latin typeface="Calibri"/>
              </a:rPr>
              <a:t>• routers on a feature set no previous router used (C4); predict and subtract the common mode (C5)</a:t>
            </a:r>
          </a:p>
          <a:p>
            <a:pPr>
              <a:spcAft>
                <a:spcPts val="300"/>
              </a:spcAft>
            </a:pPr>
            <a:r>
              <a:rPr sz="1200" b="1">
                <a:solidFill>
                  <a:srgbClr val="ECECF0"/>
                </a:solidFill>
                <a:latin typeface="Calibri"/>
              </a:rPr>
              <a:t>• Verdict: PENDING the ladder (KEEP AS STATED / KEEP WITH EDITS / REPLACE, per lane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